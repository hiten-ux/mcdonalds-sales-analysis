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D4F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Burger</c:v>
                  </c:pt>
                  <c:pt idx="1">
                    <c:v>Chicken</c:v>
                  </c:pt>
                  <c:pt idx="2">
                    <c:v>Pasta</c:v>
                  </c:pt>
                  <c:pt idx="3">
                    <c:v>Sandwich</c:v>
                  </c:pt>
                  <c:pt idx="4">
                    <c:v>Wraps</c:v>
                  </c:pt>
                  <c:pt idx="5">
                    <c:v>Sides</c:v>
                  </c:pt>
                  <c:pt idx="6">
                    <c:v>Breakfast</c:v>
                  </c:pt>
                  <c:pt idx="7">
                    <c:v>Fries</c:v>
                  </c:pt>
                  <c:pt idx="8">
                    <c:v>Salad</c:v>
                  </c:pt>
                  <c:pt idx="9">
                    <c:v>Shakes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4620.27</c:v>
                </c:pt>
                <c:pt idx="1">
                  <c:v>2478.55</c:v>
                </c:pt>
                <c:pt idx="2">
                  <c:v>2118.49</c:v>
                </c:pt>
                <c:pt idx="3">
                  <c:v>793.49</c:v>
                </c:pt>
                <c:pt idx="4">
                  <c:v>375.96</c:v>
                </c:pt>
                <c:pt idx="5">
                  <c:v>334.67</c:v>
                </c:pt>
                <c:pt idx="6">
                  <c:v>256.68</c:v>
                </c:pt>
                <c:pt idx="7">
                  <c:v>195.87</c:v>
                </c:pt>
                <c:pt idx="8">
                  <c:v>153.72</c:v>
                </c:pt>
                <c:pt idx="9">
                  <c:v>125.58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D4F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4F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8DD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0F2F5"/>
        </a:solidFill>
        <a:ln>
          <a:noFill/>
        </a:ln>
        <a:effectLst/>
      </c:spPr>
    </c:plotArea>
    <c:plotVisOnly val="1"/>
    <c:dispBlanksAs val="span"/>
  </c:chart>
  <c:spPr>
    <a:solidFill>
      <a:srgbClr val="F0F2F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Revenue ($)</c:v>
                </c:pt>
              </c:strCache>
            </c:strRef>
          </c:tx>
          <c:spPr>
            <a:solidFill>
              <a:srgbClr val="C9A84C"/>
            </a:solidFill>
            <a:ln w="31750" cap="flat">
              <a:solidFill>
                <a:srgbClr val="C9A8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D4F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84C"/>
              </a:solidFill>
              <a:ln w="9525" cap="flat">
                <a:solidFill>
                  <a:srgbClr val="C9A8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Sun</c:v>
                  </c:pt>
                  <c:pt idx="1">
                    <c:v>Mon</c:v>
                  </c:pt>
                  <c:pt idx="2">
                    <c:v>Tue</c:v>
                  </c:pt>
                  <c:pt idx="3">
                    <c:v>Wed</c:v>
                  </c:pt>
                  <c:pt idx="4">
                    <c:v>Thu</c:v>
                  </c:pt>
                  <c:pt idx="5">
                    <c:v>Fri</c:v>
                  </c:pt>
                  <c:pt idx="6">
                    <c:v>Sat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1891.08</c:v>
                </c:pt>
                <c:pt idx="1">
                  <c:v>1689.74</c:v>
                </c:pt>
                <c:pt idx="2">
                  <c:v>1274.82</c:v>
                </c:pt>
                <c:pt idx="3">
                  <c:v>1562.13</c:v>
                </c:pt>
                <c:pt idx="4">
                  <c:v>1675.56</c:v>
                </c:pt>
                <c:pt idx="5">
                  <c:v>1894.97</c:v>
                </c:pt>
                <c:pt idx="6">
                  <c:v>1464.98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D4F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4F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800"/>
        </c:scaling>
        <c:delete val="0"/>
        <c:axPos val="l"/>
        <c:majorGridlines>
          <c:spPr>
            <a:ln w="6350" cap="flat">
              <a:solidFill>
                <a:srgbClr val="D8DD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0F2F5"/>
        </a:solidFill>
        <a:ln>
          <a:noFill/>
        </a:ln>
        <a:effectLst/>
      </c:spPr>
    </c:plotArea>
    <c:plotVisOnly val="1"/>
    <c:dispBlanksAs val="span"/>
  </c:chart>
  <c:spPr>
    <a:solidFill>
      <a:srgbClr val="F0F2F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243B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D4F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43B5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43B5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43B5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43B5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43B52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43B52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43B52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243B52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243B52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11:00</c:v>
                  </c:pt>
                  <c:pt idx="1">
                    <c:v>12:00</c:v>
                  </c:pt>
                  <c:pt idx="2">
                    <c:v>13:00</c:v>
                  </c:pt>
                  <c:pt idx="3">
                    <c:v>14:00</c:v>
                  </c:pt>
                  <c:pt idx="4">
                    <c:v>15:00</c:v>
                  </c:pt>
                  <c:pt idx="5">
                    <c:v>16:00</c:v>
                  </c:pt>
                  <c:pt idx="6">
                    <c:v>17:00</c:v>
                  </c:pt>
                  <c:pt idx="7">
                    <c:v>18:00</c:v>
                  </c:pt>
                  <c:pt idx="8">
                    <c:v>19:00</c:v>
                  </c:pt>
                  <c:pt idx="9">
                    <c:v>20:00</c:v>
                  </c:pt>
                  <c:pt idx="10">
                    <c:v>21:00</c:v>
                  </c:pt>
                  <c:pt idx="11">
                    <c:v>22:00</c:v>
                  </c:pt>
                  <c:pt idx="12">
                    <c:v>23:00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117</c:v>
                </c:pt>
                <c:pt idx="1">
                  <c:v>267</c:v>
                </c:pt>
                <c:pt idx="2">
                  <c:v>250</c:v>
                </c:pt>
                <c:pt idx="3">
                  <c:v>180</c:v>
                </c:pt>
                <c:pt idx="4">
                  <c:v>160</c:v>
                </c:pt>
                <c:pt idx="5">
                  <c:v>179</c:v>
                </c:pt>
                <c:pt idx="6">
                  <c:v>253</c:v>
                </c:pt>
                <c:pt idx="7">
                  <c:v>248</c:v>
                </c:pt>
                <c:pt idx="8">
                  <c:v>183</c:v>
                </c:pt>
                <c:pt idx="9">
                  <c:v>163</c:v>
                </c:pt>
                <c:pt idx="10">
                  <c:v>107</c:v>
                </c:pt>
                <c:pt idx="11">
                  <c:v>63</c:v>
                </c:pt>
                <c:pt idx="1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D4F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F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D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0F2F5"/>
        </a:solidFill>
        <a:ln>
          <a:noFill/>
        </a:ln>
        <a:effectLst/>
      </c:spPr>
    </c:plotArea>
    <c:plotVisOnly val="1"/>
    <c:dispBlanksAs val="span"/>
  </c:chart>
  <c:spPr>
    <a:solidFill>
      <a:srgbClr val="F0F2F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50992" y="0"/>
            <a:ext cx="36576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493776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85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 REPORT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McDonald's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Intelligence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937760" cy="27432"/>
          </a:xfrm>
          <a:prstGeom prst="rect">
            <a:avLst/>
          </a:prstGeom>
          <a:solidFill>
            <a:srgbClr val="2E4560"/>
          </a:solidFill>
          <a:ln w="12700">
            <a:solidFill>
              <a:srgbClr val="2E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175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revenue, product, and operational analysis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categories, time windows, and customer segments.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INTERNAL REVIEW  ·  CONFIDENTIAL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897880" y="640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97880" y="9144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$11,453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897880" y="1691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97880" y="1892808"/>
            <a:ext cx="3017520" cy="13716"/>
          </a:xfrm>
          <a:prstGeom prst="rect">
            <a:avLst/>
          </a:prstGeom>
          <a:solidFill>
            <a:srgbClr val="2E4560"/>
          </a:solidFill>
          <a:ln w="12700">
            <a:solidFill>
              <a:srgbClr val="2E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97880" y="2331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2,171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5897880" y="3108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recorded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97880" y="3310128"/>
            <a:ext cx="3017520" cy="13716"/>
          </a:xfrm>
          <a:prstGeom prst="rect">
            <a:avLst/>
          </a:prstGeom>
          <a:solidFill>
            <a:srgbClr val="2E4560"/>
          </a:solidFill>
          <a:ln w="12700">
            <a:solidFill>
              <a:srgbClr val="2E4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897880" y="3749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$5.28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5897880" y="45262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" y="886968"/>
            <a:ext cx="9089136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7315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6032" y="548640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performance overview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 SALES PERFORMANCE ANALYSIS  |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046720" y="4983480"/>
            <a:ext cx="8229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1168" y="1051560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1051560"/>
            <a:ext cx="202996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17043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$11,453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" y="176479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" y="2029968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14016" y="1051560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14016" y="1051560"/>
            <a:ext cx="2029968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51176" y="117043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2,171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551176" y="176479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51176" y="2029968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transactions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26864" y="1051560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1051560"/>
            <a:ext cx="2029968" cy="64008"/>
          </a:xfrm>
          <a:prstGeom prst="rect">
            <a:avLst/>
          </a:prstGeom>
          <a:solidFill>
            <a:srgbClr val="2ECC8A"/>
          </a:solidFill>
          <a:ln w="12700">
            <a:solidFill>
              <a:srgbClr val="2ECC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117043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$5.28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64024" y="176479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64024" y="2029968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transaction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39712" y="1051560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39712" y="1051560"/>
            <a:ext cx="2029968" cy="64008"/>
          </a:xfrm>
          <a:prstGeom prst="rect">
            <a:avLst/>
          </a:prstGeom>
          <a:solidFill>
            <a:srgbClr val="9B6FD4"/>
          </a:solidFill>
          <a:ln w="12700">
            <a:solidFill>
              <a:srgbClr val="9B6F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76872" y="117043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70.8%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976872" y="176479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Share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76872" y="2029968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1168" y="2606040"/>
            <a:ext cx="8741664" cy="13716"/>
          </a:xfrm>
          <a:prstGeom prst="rect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" y="2697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1168" y="2999232"/>
            <a:ext cx="4251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1168" y="2999232"/>
            <a:ext cx="54864" cy="502920"/>
          </a:xfrm>
          <a:prstGeom prst="rect">
            <a:avLst/>
          </a:prstGeom>
          <a:solidFill>
            <a:srgbClr val="2ECC8A"/>
          </a:solidFill>
          <a:ln w="12700">
            <a:solidFill>
              <a:srgbClr val="2ECC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" y="3044952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Burgers dominate revenue at 40.3% ($4,620) — the single highest-contributing category by a significant margin.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54296" y="2999232"/>
            <a:ext cx="4251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54296" y="2999232"/>
            <a:ext cx="54864" cy="502920"/>
          </a:xfrm>
          <a:prstGeom prst="rect">
            <a:avLst/>
          </a:prstGeom>
          <a:solidFill>
            <a:srgbClr val="2ECC8A"/>
          </a:solidFill>
          <a:ln w="12700">
            <a:solidFill>
              <a:srgbClr val="2ECC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3044952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&amp; Sunday are peak revenue days, with Friday generating the highest single-day revenue at $1,895.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01168" y="3575304"/>
            <a:ext cx="4251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1168" y="3575304"/>
            <a:ext cx="54864" cy="502920"/>
          </a:xfrm>
          <a:prstGeom prst="rect">
            <a:avLst/>
          </a:prstGeom>
          <a:solidFill>
            <a:srgbClr val="2ECC8A"/>
          </a:solidFill>
          <a:ln w="12700">
            <a:solidFill>
              <a:srgbClr val="2ECC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" y="3621024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(12–13h) and dinner (17–18h) rushes collectively account for 46.9% of all daily orders — 1,018 transactions.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54296" y="3575304"/>
            <a:ext cx="4251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54296" y="3575304"/>
            <a:ext cx="54864" cy="50292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91456" y="3621024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revenue ($3,356) underperforms vs. 5 workdays ($8,097) — opportunity exists for weekend traffic growth.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01168" y="4151376"/>
            <a:ext cx="4251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1168" y="4151376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" y="4197096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menu items generate $5,142 — 44.9% of total revenue — signalling high concentration risk.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54296" y="4151376"/>
            <a:ext cx="4251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54296" y="4151376"/>
            <a:ext cx="54864" cy="50292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91456" y="4197096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Slices ($19) and Cheesy Bacon Fries ($80) are near-zero contributors and warrant a menu review.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" y="886968"/>
            <a:ext cx="9089136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7315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6032" y="548640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of sales performance across all menu segments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 SALES PERFORMANCE ANALYSIS  |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046720" y="4983480"/>
            <a:ext cx="8229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7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201168" y="1024128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897880" y="1024128"/>
            <a:ext cx="3044952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80760" y="1170432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BREAKDOWN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080760" y="1444752"/>
            <a:ext cx="2679192" cy="13716"/>
          </a:xfrm>
          <a:prstGeom prst="rect">
            <a:avLst/>
          </a:prstGeom>
          <a:solidFill>
            <a:srgbClr val="2E4560"/>
          </a:solidFill>
          <a:ln w="12700">
            <a:solidFill>
              <a:srgbClr val="2E45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1536192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080760" y="17465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$4,620.27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635240" y="174650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40.3%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80760" y="2103120"/>
            <a:ext cx="2679192" cy="91440"/>
          </a:xfrm>
          <a:prstGeom prst="rect">
            <a:avLst/>
          </a:prstGeom>
          <a:solidFill>
            <a:srgbClr val="243B52"/>
          </a:solidFill>
          <a:ln w="12700">
            <a:solidFill>
              <a:srgbClr val="243B5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80760" y="2103120"/>
            <a:ext cx="237744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2340864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080760" y="25511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$2,478.55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635240" y="255117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21.6%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080760" y="2907792"/>
            <a:ext cx="2679192" cy="91440"/>
          </a:xfrm>
          <a:prstGeom prst="rect">
            <a:avLst/>
          </a:prstGeom>
          <a:solidFill>
            <a:srgbClr val="243B52"/>
          </a:solidFill>
          <a:ln w="12700">
            <a:solidFill>
              <a:srgbClr val="243B5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80760" y="2907792"/>
            <a:ext cx="1275381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80760" y="3145536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080760" y="33558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$2,118.49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7635240" y="33558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18.5%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080760" y="3712464"/>
            <a:ext cx="2679192" cy="91440"/>
          </a:xfrm>
          <a:prstGeom prst="rect">
            <a:avLst/>
          </a:prstGeom>
          <a:solidFill>
            <a:srgbClr val="243B52"/>
          </a:solidFill>
          <a:ln w="12700">
            <a:solidFill>
              <a:srgbClr val="243B5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80760" y="3712464"/>
            <a:ext cx="1090106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080760" y="4041648"/>
            <a:ext cx="2679192" cy="13716"/>
          </a:xfrm>
          <a:prstGeom prst="rect">
            <a:avLst/>
          </a:prstGeom>
          <a:solidFill>
            <a:srgbClr val="2E4560"/>
          </a:solidFill>
          <a:ln w="12700">
            <a:solidFill>
              <a:srgbClr val="2E456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80760" y="411480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categories = 80.5% of total revenue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" y="886968"/>
            <a:ext cx="9089136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7315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DAY OF WEEK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6032" y="548640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performance trend and weekday / weekend split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 SALES PERFORMANCE ANALYSIS  |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046720" y="4983480"/>
            <a:ext cx="8229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7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201168" y="1024128"/>
          <a:ext cx="58521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201168" y="41148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Highest: Friday $1,895  ·  Lowest: Tuesday $1,275  ·  Range: $620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263640" y="1024128"/>
            <a:ext cx="2679192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024128"/>
            <a:ext cx="2679192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1338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46520" y="13533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– Fri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46520" y="159105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$8,097.22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446520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1,529 orders  ·  70.7% of total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263640" y="2898648"/>
            <a:ext cx="2679192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63640" y="2898648"/>
            <a:ext cx="267919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46520" y="30083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46520" y="32278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– Sun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46520" y="34655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$3,356.06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6446520" y="3995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642 orders  ·  29.3% of total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" y="886968"/>
            <a:ext cx="9089136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7315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ORDER VOLUME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6032" y="548640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demand pattern — identifying peak service windows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 SALES PERFORMANCE ANALYSIS  |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046720" y="4983480"/>
            <a:ext cx="8229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7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201168" y="1024128"/>
          <a:ext cx="6309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201168" y="4315968"/>
            <a:ext cx="16459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9768" y="42885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Rush (12–13h)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304288" y="4315968"/>
            <a:ext cx="164592" cy="1645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32888" y="42885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Dinner Rush (17–18h)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407408" y="4315968"/>
            <a:ext cx="164592" cy="164592"/>
          </a:xfrm>
          <a:prstGeom prst="rect">
            <a:avLst/>
          </a:prstGeom>
          <a:solidFill>
            <a:srgbClr val="243B52"/>
          </a:solidFill>
          <a:ln w="12700">
            <a:solidFill>
              <a:srgbClr val="243B5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36008" y="42885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Hours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720840" y="1024128"/>
            <a:ext cx="2221992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720840" y="1024128"/>
            <a:ext cx="222199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76288" y="11338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RUSH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876288" y="13624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 – 13:00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876288" y="159105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517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6876288" y="2167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 ·  23.8%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720840" y="2871216"/>
            <a:ext cx="2221992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720840" y="2871216"/>
            <a:ext cx="2221992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76288" y="29809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DINNER RUSH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76288" y="32095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 – 18:00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876288" y="343814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501</a:t>
            </a:r>
            <a:endParaRPr lang="en-US" sz="3400" dirty="0"/>
          </a:p>
        </p:txBody>
      </p:sp>
      <p:sp>
        <p:nvSpPr>
          <p:cNvPr id="28" name="Text 25"/>
          <p:cNvSpPr/>
          <p:nvPr/>
        </p:nvSpPr>
        <p:spPr>
          <a:xfrm>
            <a:off x="6876288" y="40142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 ·  23.1%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720840" y="4663440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rush hours = 46.9% of all orders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" y="886968"/>
            <a:ext cx="9089136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7315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6032" y="548640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and bottom performers by revenue contribution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 SALES PERFORMANCE ANALYSIS  |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046720" y="4983480"/>
            <a:ext cx="8229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1168" y="1024128"/>
            <a:ext cx="42062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024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ITEMS BY REVENUE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" y="1444752"/>
            <a:ext cx="4206240" cy="539496"/>
          </a:xfrm>
          <a:prstGeom prst="rect">
            <a:avLst/>
          </a:prstGeom>
          <a:solidFill>
            <a:srgbClr val="EDF2F7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1847088"/>
            <a:ext cx="3538728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" y="1517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1508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Mac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$1,455.57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2066544"/>
            <a:ext cx="42062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2468880"/>
            <a:ext cx="2629960" cy="1371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B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2130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Pounder with Cheese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21305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4F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$1,059.24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1168" y="2688336"/>
            <a:ext cx="42062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" y="3090672"/>
            <a:ext cx="2530515" cy="1371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B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27523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Meatball Marinara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27523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4F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$1,015.87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1168" y="3310128"/>
            <a:ext cx="42062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" y="3712464"/>
            <a:ext cx="2124042" cy="1371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B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33741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Teriyaki Chicken Sandwich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0" y="33741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4F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$838.6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01168" y="3931920"/>
            <a:ext cx="42062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1168" y="4334256"/>
            <a:ext cx="1972042" cy="1371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B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" y="3995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Bulgogi Burger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0" y="3995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4F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$772.31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01168" y="45720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items = $5,142  ·  44.9% of total revenue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36592" y="1024128"/>
            <a:ext cx="42062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1024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ITEMS BY REVENUE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36592" y="1444752"/>
            <a:ext cx="42062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36592" y="1847088"/>
            <a:ext cx="449820" cy="137160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82312" y="1517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B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02352" y="1508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Slices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35824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36592" y="2066544"/>
            <a:ext cx="42062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36592" y="2468880"/>
            <a:ext cx="1900371" cy="137160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82312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B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02352" y="2130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Cheesy Bacon Fries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735824" y="21305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$80.27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36592" y="2688336"/>
            <a:ext cx="42062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36592" y="3090672"/>
            <a:ext cx="2548112" cy="137160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82312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B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102352" y="27523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McChicken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735824" y="27523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$107.63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736592" y="3310128"/>
            <a:ext cx="42062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36592" y="3712464"/>
            <a:ext cx="2689923" cy="137160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82312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B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102352" y="33741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Cheeseburger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735824" y="33741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$113.62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736592" y="3931920"/>
            <a:ext cx="42062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36592" y="4334256"/>
            <a:ext cx="2736799" cy="137160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82312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B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102352" y="3995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Fries (Large)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735824" y="3995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$115.6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736592" y="45720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menu review or promotional bundling strategy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9601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" y="932688"/>
            <a:ext cx="9089136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229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6032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priorities derived from sales analysis findings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 SALES PERFORMANCE ANALYSIS  |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046720" y="4983480"/>
            <a:ext cx="8229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1168" y="1097280"/>
            <a:ext cx="4251960" cy="1691640"/>
          </a:xfrm>
          <a:prstGeom prst="rect">
            <a:avLst/>
          </a:prstGeom>
          <a:solidFill>
            <a:srgbClr val="243B52"/>
          </a:solidFill>
          <a:ln w="12700">
            <a:solidFill>
              <a:srgbClr val="2E45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" y="1097280"/>
            <a:ext cx="42519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12252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Staffing for Peak Hours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682496"/>
            <a:ext cx="3913632" cy="10973"/>
          </a:xfrm>
          <a:prstGeom prst="rect">
            <a:avLst/>
          </a:prstGeom>
          <a:solidFill>
            <a:srgbClr val="2E4560"/>
          </a:solidFill>
          <a:ln w="12700">
            <a:solidFill>
              <a:srgbClr val="2E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755648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additional front-of-house and kitchen staff during 12–13h and 17–18h. These two windows generate 46.9% of all orders. Reducing service wait times during rush periods will directly improve customer experience and throughput.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54296" y="1097280"/>
            <a:ext cx="4251960" cy="1691640"/>
          </a:xfrm>
          <a:prstGeom prst="rect">
            <a:avLst/>
          </a:prstGeom>
          <a:solidFill>
            <a:srgbClr val="243B52"/>
          </a:solidFill>
          <a:ln w="12700">
            <a:solidFill>
              <a:srgbClr val="2E45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4296" y="1097280"/>
            <a:ext cx="425196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225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76088" y="12252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Burger &amp; Chicken Portfolio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18888" y="1682496"/>
            <a:ext cx="3913632" cy="10973"/>
          </a:xfrm>
          <a:prstGeom prst="rect">
            <a:avLst/>
          </a:prstGeom>
          <a:solidFill>
            <a:srgbClr val="2E4560"/>
          </a:solidFill>
          <a:ln w="12700">
            <a:solidFill>
              <a:srgbClr val="2E4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1755648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Burgers (40.3%) and Chicken (21.6%) together accounting for 62% of revenue, introducing seasonal LTOs and value combo bundles in these categories offers the highest ROI potential for revenue growth.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01168" y="2971800"/>
            <a:ext cx="4251960" cy="1691640"/>
          </a:xfrm>
          <a:prstGeom prst="rect">
            <a:avLst/>
          </a:prstGeom>
          <a:solidFill>
            <a:srgbClr val="243B52"/>
          </a:solidFill>
          <a:ln w="12700">
            <a:solidFill>
              <a:srgbClr val="2E45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" y="2971800"/>
            <a:ext cx="4251960" cy="54864"/>
          </a:xfrm>
          <a:prstGeom prst="rect">
            <a:avLst/>
          </a:prstGeom>
          <a:solidFill>
            <a:srgbClr val="2ECC8A"/>
          </a:solidFill>
          <a:ln w="12700">
            <a:solidFill>
              <a:srgbClr val="2ECC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099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309981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Weekend Revenue Uplift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557016"/>
            <a:ext cx="3913632" cy="10973"/>
          </a:xfrm>
          <a:prstGeom prst="rect">
            <a:avLst/>
          </a:prstGeom>
          <a:solidFill>
            <a:srgbClr val="2E4560"/>
          </a:solidFill>
          <a:ln w="12700">
            <a:solidFill>
              <a:srgbClr val="2E4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30168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days (Sat–Sun) generate only 29.3% of revenue despite representing 2 of 7 operating days. Targeted promotions, family meal deals, and extended weekend-specific offers could narrow the gap against weekday performance.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54296" y="2971800"/>
            <a:ext cx="4251960" cy="1691640"/>
          </a:xfrm>
          <a:prstGeom prst="rect">
            <a:avLst/>
          </a:prstGeom>
          <a:solidFill>
            <a:srgbClr val="243B52"/>
          </a:solidFill>
          <a:ln w="12700">
            <a:solidFill>
              <a:srgbClr val="2E45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54296" y="2971800"/>
            <a:ext cx="4251960" cy="5486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3099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76088" y="309981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Menu Rationalisation Review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18888" y="3557016"/>
            <a:ext cx="3913632" cy="10973"/>
          </a:xfrm>
          <a:prstGeom prst="rect">
            <a:avLst/>
          </a:prstGeom>
          <a:solidFill>
            <a:srgbClr val="2E4560"/>
          </a:solidFill>
          <a:ln w="12700">
            <a:solidFill>
              <a:srgbClr val="2E45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3630168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Slices ($19), Cheesy Bacon Fries ($80), and McChicken ($108) are the bottom three performers. Evaluate bundling these items into value deals, running promotional pricing, or rationalising the menu to reduce operational complexity.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25312" y="0"/>
            <a:ext cx="36576" cy="5143500"/>
          </a:xfrm>
          <a:prstGeom prst="rect">
            <a:avLst/>
          </a:prstGeom>
          <a:solidFill>
            <a:srgbClr val="2E4560"/>
          </a:solidFill>
          <a:ln w="12700">
            <a:solidFill>
              <a:srgbClr val="2E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COMPLETE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50292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28016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56032" y="27889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covers total revenue, category mix, daily and hourly order patterns, product-level performance, and strategic priorities for operational improvement.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3657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questions or further analysis, please refer to the source data workbook.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6032" y="46634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INTERNAL USE ONLY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44768" y="502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44768" y="786384"/>
            <a:ext cx="2743200" cy="18288"/>
          </a:xfrm>
          <a:prstGeom prst="rect">
            <a:avLst/>
          </a:prstGeom>
          <a:solidFill>
            <a:srgbClr val="2E4560"/>
          </a:solidFill>
          <a:ln w="12700">
            <a:solidFill>
              <a:srgbClr val="2E45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44768" y="896112"/>
            <a:ext cx="2798064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9418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07808" y="9418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$11,453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99632" y="13533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07808" y="13533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2,171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44768" y="1719072"/>
            <a:ext cx="2798064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17647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07808" y="17647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$5.27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99632" y="21762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07808" y="21762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Burgers (40.3%)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44768" y="2542032"/>
            <a:ext cx="2798064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25877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07808" y="25877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($1,895)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99632" y="29992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Hour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07808" y="29992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 (267 orders)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44768" y="3364992"/>
            <a:ext cx="2798064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9632" y="34107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Share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07808" y="34107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29.3% of revenue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99632" y="38221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Item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607808" y="38221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Mac ($1,456)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44768" y="4187952"/>
            <a:ext cx="2798064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9632" y="42336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Item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607808" y="42336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Slices ($19)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99632" y="46451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Revenue Share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07808" y="46451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44.9%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 SALES PERFORMANCE ANALYSIS  |  CONFIDENTIAL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046720" y="4983480"/>
            <a:ext cx="8229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McDonald's Sales Performance Analysis</dc:title>
  <dc:subject>PptxGenJS Presentation</dc:subject>
  <dc:creator>PptxGenJS</dc:creator>
  <cp:lastModifiedBy>PptxGenJS</cp:lastModifiedBy>
  <cp:revision>1</cp:revision>
  <dcterms:created xsi:type="dcterms:W3CDTF">2026-06-03T07:14:10Z</dcterms:created>
  <dcterms:modified xsi:type="dcterms:W3CDTF">2026-06-03T07:14:10Z</dcterms:modified>
</cp:coreProperties>
</file>